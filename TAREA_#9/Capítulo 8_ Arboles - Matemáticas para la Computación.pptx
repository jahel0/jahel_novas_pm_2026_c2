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068" y="2393602"/>
            <a:ext cx="3471862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40568" y="2917477"/>
            <a:ext cx="6910863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oppins"/>
              </a:rPr>
              <a:t>Capítulo VIII: Árboles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778448"/>
            <a:ext cx="80962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Estructuras de Datos Jerárquicas, Propiedades Matemáticas, Algoritmos Avanzados y Aplicaciones en Ciencias de la Computación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5" y="2000250"/>
            <a:ext cx="1123950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0418" y="2333625"/>
            <a:ext cx="9311163" cy="809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oppins"/>
              </a:rPr>
              <a:t>Introducción y Definición Formal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943350"/>
            <a:ext cx="7143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 diferencia de los grafos generales cuyo desorden dificulta la búsqueda lineal, los árboles proveen un ordenamiento jerárquico estricto y sin ciclos para optimizar la manipulación de información.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305645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Definición Formal: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Un árbol es un grafo conexo, acíclico, sin lazos ni lados paralelos, donde existe un </a:t>
            </a:r>
            <a:r>
              <a:rPr sz="1275" b="0" i="1" u="none">
                <a:solidFill>
                  <a:srgbClr val="CBD5E1"/>
                </a:solidFill>
                <a:latin typeface="Inter"/>
              </a:rPr>
              <a:t>único camino simple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entre cualquier par de vértices.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53978"/>
            <a:ext cx="4991100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Origen Histórico: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Introducidos por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Gustav Kirchhoff (1847)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para el análisis de redes eléctricas y posteriormente aplicados por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Grace Hopper (1951)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en la representación de expresiones matemáticas.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61271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Eficiencia Computacional: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Clave para el almacenamiento masivo y recuperación instantánea en bases de datos y sistemas operativos.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7400"/>
            <a:ext cx="530542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338982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87315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494609"/>
            <a:ext cx="1524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Definición y Antecedentes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8900"/>
            <a:ext cx="3517850" cy="2457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628900"/>
            <a:ext cx="3517850" cy="2457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28900"/>
            <a:ext cx="3517850" cy="2457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905125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695700"/>
            <a:ext cx="191023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oppins"/>
              </a:rPr>
              <a:t>Nodo Raíz y Nivel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124325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El nodo raíz es el vértice superior principal (Nivel 0). La altura del árbol corresponde al nivel máximo que alcanzan sus ramas.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905125"/>
            <a:ext cx="619125" cy="619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3225" y="3695700"/>
            <a:ext cx="130016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oppins"/>
              </a:rPr>
              <a:t>Padre e Hijo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4124325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Relación directa entre un nodo de nivel superior (padre) y los nodos subordinados en el nivel inmediatamente inferior (hijos).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200" y="2905125"/>
            <a:ext cx="619125" cy="619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9200" y="3695700"/>
            <a:ext cx="178022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oppins"/>
              </a:rPr>
              <a:t>Hojas e Internos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4124325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Las </a:t>
            </a:r>
            <a:r>
              <a:rPr sz="1125" b="1" i="0" u="none">
                <a:solidFill>
                  <a:srgbClr val="94A3B8"/>
                </a:solidFill>
                <a:latin typeface="Inter"/>
              </a:rPr>
              <a:t>Hojas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son nodos terminales sin hijos. Los </a:t>
            </a:r>
            <a:r>
              <a:rPr sz="1125" b="1" i="0" u="none">
                <a:solidFill>
                  <a:srgbClr val="94A3B8"/>
                </a:solidFill>
                <a:latin typeface="Inter"/>
              </a:rPr>
              <a:t>Vértices Internos</a:t>
            </a:r>
            <a:r>
              <a:rPr sz="1125" b="0" i="0" u="none">
                <a:solidFill>
                  <a:srgbClr val="94A3B8"/>
                </a:solidFill>
                <a:latin typeface="Inter"/>
              </a:rPr>
              <a:t> son aquellos que poseen al menos un hijo en la jerarquía.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50" y="3043237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1337" y="3043237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7313" y="3043237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Estructura y Terminología Básica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4600"/>
            <a:ext cx="3517850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514600"/>
            <a:ext cx="3517850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514600"/>
            <a:ext cx="3517850" cy="2686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90825"/>
            <a:ext cx="619125" cy="619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581400"/>
            <a:ext cx="143017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oppins"/>
              </a:rPr>
              <a:t>Árbol Binario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010025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Cada nodo padre admite como máximo 2 hijos (izquierdo y derecho). Es la estructura base para índices digitales y lógica binaria.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2790825"/>
            <a:ext cx="619125" cy="619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3225" y="3581400"/>
            <a:ext cx="15201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oppins"/>
              </a:rPr>
              <a:t>Árbol Trinario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4010025"/>
            <a:ext cx="2965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Admite como máximo 3 hijos por nodo. Ampliamente utilizado en sistemas de indexación tridimensional y procesamiento espacial.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9200" y="2790825"/>
            <a:ext cx="619125" cy="619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9200" y="3581400"/>
            <a:ext cx="2650331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1F5F9"/>
                </a:solidFill>
                <a:latin typeface="Poppins"/>
              </a:rPr>
              <a:t>Multirrama / Quadtrees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200" y="4010025"/>
            <a:ext cx="2965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4A3B8"/>
                </a:solidFill>
                <a:latin typeface="Inter"/>
              </a:rPr>
              <a:t>Admite 4 o más hijos por nodo. Esencial para la organización de volúmenes masivos de datos y compresión gráfica espacial.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928937"/>
            <a:ext cx="3048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8475" y="2928937"/>
            <a:ext cx="428625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3500" y="2928937"/>
            <a:ext cx="3905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Tipos de Árboles por Número de Nodos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94086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Árbol Balanceado: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La diferencia de nivel entre cualquiera de sus hojas es como máximo 1. Garantiza búsquedas óptimas de tiempo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O(log n)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42419"/>
            <a:ext cx="4991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Riesgo de Desbalance: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Ocurre cuando la diferencia entre hojas supera 1. Transforma el árbol en una lista lineal.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31791"/>
            <a:ext cx="4991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Degradación de Eficiencia: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El tiempo de búsqueda en el peor de los casos se degrada dramáticamente de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O(log n)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a </a:t>
            </a:r>
            <a:r>
              <a:rPr sz="1275" b="1" i="0" u="none">
                <a:solidFill>
                  <a:srgbClr val="CBD5E1"/>
                </a:solidFill>
                <a:latin typeface="Inter"/>
              </a:rPr>
              <a:t>O(n)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7400"/>
            <a:ext cx="530542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727424"/>
            <a:ext cx="219075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675757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365128"/>
            <a:ext cx="17145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Árboles Balanceados vs. Desbalanceados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43187"/>
            <a:ext cx="5324475" cy="2428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986087"/>
            <a:ext cx="4638675" cy="685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138612"/>
            <a:ext cx="4638675" cy="59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767137"/>
            <a:ext cx="4638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1F5F9"/>
                </a:solidFill>
                <a:latin typeface="Inter SemiBold"/>
              </a:rPr>
              <a:t>Total de Vértices en Árbol Binario Completo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7145" y="4357687"/>
            <a:ext cx="760660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9875" y="2564606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Teorema del Árbol Binario Completo: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Cada nodo tiene exactamente 2 hijos o ninguno (0). Si es el número de nodos internos, el número de hojas es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512939"/>
            <a:ext cx="4991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Ejemplo Práctico: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Si un árbol binario completo posee nodos internos, tendrá hojas y un total de vértices.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202310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Concepto de Bosque: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Es un conjunto disjunto de árboles. Eliminar la raíz de un árbol produce un bosque de subárboles disjuntos.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2899767"/>
            <a:ext cx="45094" cy="1047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7800" y="3158728"/>
            <a:ext cx="587573" cy="1047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06100" y="3589139"/>
            <a:ext cx="307330" cy="1047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7175" y="3848100"/>
            <a:ext cx="361205" cy="104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2855" y="3848100"/>
            <a:ext cx="379214" cy="1047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2597943"/>
            <a:ext cx="1333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0" y="3546276"/>
            <a:ext cx="15240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Propiedades Matemáticas y Bosques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4787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219920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Compresión y Optimización: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Desarrollado por David A. Huffman (1952), asigna secuencias de bits de longitud variable según la frecuencia de cada carácter.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68253"/>
            <a:ext cx="49911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Principio del Código Óptimo: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Los símbolos más frecuentes quedan cerca de la raíz (cadenas cortas), mientras que los menos frecuentes quedan alejados.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6585"/>
            <a:ext cx="4991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Navegación Binaria: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Inicia en la raíz. Un bit 0 dirige a la rama izquierda y un bit 1 a la rama derecha hasta alcanzar la hoja.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5957"/>
            <a:ext cx="4991100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CBD5E1"/>
                </a:solidFill>
                <a:latin typeface="Inter"/>
              </a:rPr>
              <a:t>Uso Actual:</a:t>
            </a:r>
            <a:r>
              <a:rPr sz="1275" b="0" i="0" u="none">
                <a:solidFill>
                  <a:srgbClr val="CBD5E1"/>
                </a:solidFill>
                <a:latin typeface="Inter"/>
              </a:rPr>
              <a:t> Base fundamental de formatos ZIP, estándar JPEG, mótems y transmisiones de datos.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57400"/>
            <a:ext cx="23145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253257"/>
            <a:ext cx="1333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01590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149923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839295"/>
            <a:ext cx="219075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Árboles con Pesos: Código de Huffman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146" y="3148012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916" y="3148012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685" y="3148012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9454" y="3148012"/>
            <a:ext cx="476250" cy="47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2570" y="4033837"/>
            <a:ext cx="9926859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0362" y="3814762"/>
            <a:ext cx="254781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Poppins"/>
              </a:rPr>
              <a:t>Frecuencias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148137"/>
            <a:ext cx="242649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Contar la frecuencia de aparición de cada carácter y ordenarlos de menor a mayor peso.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8131" y="3814762"/>
            <a:ext cx="254781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Poppins"/>
              </a:rPr>
              <a:t>Combinar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8794" y="4148137"/>
            <a:ext cx="242649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Tomar los 2 nodos de menor peso y unirlos bajo un nuevo padre con la suma total de sus pesos.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900" y="3814762"/>
            <a:ext cx="254781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Poppins"/>
              </a:rPr>
              <a:t>Iteración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563" y="4148137"/>
            <a:ext cx="2426493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Repetir la combinación de nodos o subárboles de menor peso hasta integrar todos los elementos.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3670" y="3814762"/>
            <a:ext cx="254781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1F5F9"/>
                </a:solidFill>
                <a:latin typeface="Poppins"/>
              </a:rPr>
              <a:t>Asignación 0 /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4332" y="4148137"/>
            <a:ext cx="242649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Asignar ceros (0) a las ramas izquierdas e unos (1) a las derechas para obtener códigos prefijo sin ambigüedad.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Construcción del Árbol de Huffman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33675"/>
            <a:ext cx="5324475" cy="2247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33675"/>
            <a:ext cx="5324475" cy="2247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3028950"/>
            <a:ext cx="4970621" cy="276225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8FAFC"/>
                </a:solidFill>
                <a:latin typeface="Poppins"/>
              </a:rPr>
              <a:t>Búsqueda en Anchura (BFS)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00425"/>
            <a:ext cx="47339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Inicia en la raíz y examina todos los hijos del mismo nivel de izquierda a derecha antes de descender al siguiente nivel de profundidad.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114800"/>
            <a:ext cx="47339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Estructura Auxiliar: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Cola (FIFO).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305300"/>
            <a:ext cx="47339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Uso Ideal: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Recomendado para árboles balanceados y para hallar el camino más corto en grafos sin pesos.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028950"/>
            <a:ext cx="4970621" cy="276225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8FAFC"/>
                </a:solidFill>
                <a:latin typeface="Poppins"/>
              </a:rPr>
              <a:t>Búsqueda en Profundidad (DFS)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400425"/>
            <a:ext cx="47339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Explora la rama izquierda hasta la hoja más profunda antes de realizar </a:t>
            </a:r>
            <a:r>
              <a:rPr sz="1200" b="0" i="1" u="none">
                <a:solidFill>
                  <a:srgbClr val="CBD5E1"/>
                </a:solidFill>
                <a:latin typeface="Inter"/>
              </a:rPr>
              <a:t>backtracking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hacia ramas no inspeccionadas.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924300"/>
            <a:ext cx="47339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Estructura Auxiliar: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Pila (LIFO) o Recursión.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114800"/>
            <a:ext cx="47339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Inter"/>
              </a:rPr>
              <a:t>Uso Ideal: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Resolución de laberintos, análisis sintáctico y verificación de conectividad.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076575"/>
            <a:ext cx="180975" cy="178296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3076575"/>
            <a:ext cx="180975" cy="1782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Estrategias de Búsqueda: BFS vs. DFS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200275"/>
            <a:ext cx="11029950" cy="33147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200275"/>
          <a:ext cx="11020424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6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Concepto / Algoritmo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Orden de Visita / Estrategia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Aplicación Principal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Recorrido Preorden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Raíz → Subárbol Izquierdo → Subárbol Derecho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Clonar o copiar la estructura exacta de un árbol.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Recorrido Inorden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Subárbol Izquierdo → Raíz → Subárbol Derecho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Obtener valores en orden ascendente en un BST.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Recorrido Postorden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Subárbol Izquierdo → Subárbol Derecho → Raíz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Eliminación de nodos y cálculo de notación polaca inversa.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Algoritmo de Prim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Añade el vértice más cercano al subárbol actual.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Diseño óptimo de redes telefónicas y tendido eléctrico.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Algoritmo de Kruskal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Ordena aristas por peso y añade evitando ciclos.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Optimización de transporte, tuberías y redes.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786062"/>
            <a:ext cx="21913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77132" y="2786062"/>
            <a:ext cx="40329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10077" y="2786062"/>
            <a:ext cx="47961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787" y="3328987"/>
            <a:ext cx="21913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77132" y="3328987"/>
            <a:ext cx="40329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10077" y="3328987"/>
            <a:ext cx="47961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3871912"/>
            <a:ext cx="21913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77132" y="3871912"/>
            <a:ext cx="40329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10077" y="3871912"/>
            <a:ext cx="47961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787" y="4414837"/>
            <a:ext cx="21913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77132" y="4414837"/>
            <a:ext cx="40329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10077" y="4414837"/>
            <a:ext cx="47961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957762"/>
            <a:ext cx="219134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77132" y="4957762"/>
            <a:ext cx="4032944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10077" y="4957762"/>
            <a:ext cx="47961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 u="none">
                <a:solidFill>
                  <a:srgbClr val="F8FAFC"/>
                </a:solidFill>
                <a:latin typeface="Poppins"/>
              </a:rPr>
              <a:t>Recorridos y Árbol Generador Mínimo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1025" y="1009650"/>
            <a:ext cx="114300" cy="304800"/>
          </a:xfrm>
          <a:prstGeom prst="roundRect">
            <a:avLst>
              <a:gd name="adj" fmla="val 33333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5" y="3028950"/>
            <a:ext cx="504825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50" y="1028700"/>
            <a:ext cx="4053840" cy="933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105025"/>
            <a:ext cx="110299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94A3B8"/>
                </a:solidFill>
                <a:latin typeface="Inter"/>
              </a:rPr>
              <a:t>Los árboles constituyen la columna vertebral de la informática moderna, permitiendo optimizar búsquedas, comprimir información y diseñar redes eficientes.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150" y="3171825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914</Words>
  <Application>Microsoft Office PowerPoint</Application>
  <PresentationFormat>Panorámica</PresentationFormat>
  <Paragraphs>74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Jahel Novas</cp:lastModifiedBy>
  <cp:revision>2</cp:revision>
  <dcterms:created xsi:type="dcterms:W3CDTF">2013-01-27T09:14:16Z</dcterms:created>
  <dcterms:modified xsi:type="dcterms:W3CDTF">2026-08-04T15:28:36Z</dcterms:modified>
  <cp:category/>
</cp:coreProperties>
</file>