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2CD2F-BF09-44B3-AF47-3B3B5ECF9CAD}" type="datetimeFigureOut">
              <a:rPr lang="es-ES" smtClean="0"/>
              <a:t>04/08/2026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7F843-EA84-44B0-93B2-71B805FFAA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573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7F843-EA84-44B0-93B2-71B805FFAA1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8001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8.png"/><Relationship Id="rId7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693" y="2511772"/>
            <a:ext cx="3376612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50669" y="3083272"/>
            <a:ext cx="5290661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Space Grotesk"/>
              </a:rPr>
              <a:t>Capítulo 7: Grafos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09675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209675"/>
            <a:ext cx="559069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Un Mapa de Conexiones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619250"/>
            <a:ext cx="53244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En informática, un </a:t>
            </a:r>
            <a:r>
              <a:rPr sz="1275" b="1" i="0" u="none">
                <a:solidFill>
                  <a:srgbClr val="94A3B8"/>
                </a:solidFill>
                <a:latin typeface="Plus Jakarta Sans"/>
              </a:rPr>
              <a:t>grafo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no es una gráfica de barras o líneas, sino un modelo matemático para representar objetos y sus relaciones mutuas.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219200"/>
            <a:ext cx="5305425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925" y="2510432"/>
            <a:ext cx="49815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Redes Sociales: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Las personas son vértices y la amistad/seguimiento son aristas.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199804"/>
            <a:ext cx="49815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Transporte y Mapas: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Ciudades unidas por carreteras o estaciones de metro.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889176"/>
            <a:ext cx="49815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Infraestructura: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Computadoras conectadas a Internet o circuitos eléctricos.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534245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223617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912989"/>
            <a:ext cx="238125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47850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Introducción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a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los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Grafos</a:t>
            </a:r>
            <a:endParaRPr sz="27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81025" y="923925"/>
            <a:ext cx="114300" cy="3429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20728" y="2995612"/>
            <a:ext cx="4350543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Space Grotesk"/>
              </a:rPr>
              <a:t>Origen Histórico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5212" y="3862387"/>
            <a:ext cx="49815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El nacimiento de la teoría de grafos y la topología en 1735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33575" y="504825"/>
            <a:ext cx="5540692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Los Puentes de Königsberg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923925"/>
            <a:ext cx="114300" cy="3429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1209675"/>
            <a:ext cx="5540692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El Problema Histórico (1735)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619250"/>
            <a:ext cx="52768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El río Pregel dividía la ciudad en 4 masas de tierra unidas por 7 puentes. Los habitantes buscaban cruzar todos los puentes exactamente una sola vez sin repetir ninguno.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510432"/>
            <a:ext cx="527685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El Aporte de Leonhard Euler: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En lugar de usar las distancias reales, representó las masas de tierra como puntos y los puentes como líneas, demostrando matemáticamente que el recorrido era imposible.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59135"/>
            <a:ext cx="3524250" cy="26931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659135"/>
            <a:ext cx="3524250" cy="26931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1659135"/>
            <a:ext cx="3524250" cy="26931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209675"/>
            <a:ext cx="554355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Definición formal: Un grafo se expresa matemáticamente como </a:t>
            </a:r>
            <a:r>
              <a:rPr sz="1275" b="1" i="0" u="none">
                <a:solidFill>
                  <a:srgbClr val="38BDF8"/>
                </a:solidFill>
                <a:latin typeface="Plus Jakarta Sans"/>
              </a:rPr>
              <a:t>G = (V, 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516385"/>
            <a:ext cx="312039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Vértices / Nodos (V)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92596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Conjunto no vacío de puntos que representan entidades del sistema (personas, ciudades, servidores).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2516385"/>
            <a:ext cx="312039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Aristas / Lados (E)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0100" y="292596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Enlaces que unen pares de vértices representando sus relaciones directas (carreteras, conexiones).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2950" y="2516385"/>
            <a:ext cx="312039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Lazos y Paralelas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950" y="2925960"/>
            <a:ext cx="297180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Un </a:t>
            </a:r>
            <a:r>
              <a:rPr sz="1275" b="1" i="0" u="none">
                <a:solidFill>
                  <a:srgbClr val="94A3B8"/>
                </a:solidFill>
                <a:latin typeface="Plus Jakarta Sans"/>
              </a:rPr>
              <a:t>Lazo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conecta un nodo consigo mismo. Las </a:t>
            </a:r>
            <a:r>
              <a:rPr sz="1275" b="1" i="0" u="none">
                <a:solidFill>
                  <a:srgbClr val="94A3B8"/>
                </a:solidFill>
                <a:latin typeface="Plus Jakarta Sans"/>
              </a:rPr>
              <a:t>Aristas Paralelas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son múltiples enlaces entre los mismos dos nodos.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992510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1992510"/>
            <a:ext cx="42862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950" y="1992510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15126" y="495300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Componentes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de un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Grafo</a:t>
            </a:r>
            <a:endParaRPr sz="27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81025" y="923925"/>
            <a:ext cx="114300" cy="3429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23664"/>
            <a:ext cx="4057650" cy="2162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50" y="1614189"/>
            <a:ext cx="32766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38BDF8"/>
                </a:solidFill>
                <a:latin typeface="Space Grotesk"/>
              </a:rPr>
              <a:t>deg(v)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2757189"/>
            <a:ext cx="32766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Valencia o Grado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9675" y="1209675"/>
            <a:ext cx="692086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Importancia Estructural en la 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9675" y="1619250"/>
            <a:ext cx="659130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El </a:t>
            </a:r>
            <a:r>
              <a:rPr sz="1275" b="1" i="0" u="none">
                <a:solidFill>
                  <a:srgbClr val="94A3B8"/>
                </a:solidFill>
                <a:latin typeface="Plus Jakarta Sans"/>
              </a:rPr>
              <a:t>grado o valencia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indica cuántas aristas inciden sobre un vértice determinado.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2575" y="2021085"/>
            <a:ext cx="62484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Nodos Críticos: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Un vértice con un alto grado posee múltiples conexiones y desempeña un rol central.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62575" y="2710457"/>
            <a:ext cx="62484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Ejemplo real: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Un aeropuerto internacional tiene un grado mayor comparado con uno regional debido a la cantidad de rutas aéreas salientes y entrantes.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675" y="2044898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9675" y="2734270"/>
            <a:ext cx="219075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96051" y="435620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Space Grotesk"/>
              </a:rPr>
              <a:t>Grado o Valencia de un Vértice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1025" y="923925"/>
            <a:ext cx="114300" cy="3429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9675"/>
            <a:ext cx="11029950" cy="2900808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0550" y="1219200"/>
          <a:ext cx="11010898" cy="2881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9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1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2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35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Tipo de Grafo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Permite Lazos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Aristas Paralelas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Descripción Breve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351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Grafo Simple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Máximo una arista entre cualquier par de vértices.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351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Multigrafo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Sí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Permite múltiples conexiones entre los mismos dos nodos.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351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Pseudografo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Sí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Sí</a:t>
                      </a:r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Admite aristas paralelas y lazos sobre un mismo vértice.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354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Grafo Completo (K_n)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Existe una arista directa entre todo par de vértices distintos.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1793527"/>
            <a:ext cx="224670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37259" y="1793527"/>
            <a:ext cx="16496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486870" y="1793527"/>
            <a:ext cx="183177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18646" y="1793527"/>
            <a:ext cx="52828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550" y="2366813"/>
            <a:ext cx="224670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7259" y="2366813"/>
            <a:ext cx="16496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6870" y="2366813"/>
            <a:ext cx="183177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18646" y="2366813"/>
            <a:ext cx="52828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0550" y="2940099"/>
            <a:ext cx="224670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37259" y="2940099"/>
            <a:ext cx="16496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6870" y="2940099"/>
            <a:ext cx="183177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18646" y="2940099"/>
            <a:ext cx="52828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0550" y="3513385"/>
            <a:ext cx="224670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37259" y="3513385"/>
            <a:ext cx="16496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86870" y="3513385"/>
            <a:ext cx="183177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18646" y="3513385"/>
            <a:ext cx="52828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0550" y="4086671"/>
            <a:ext cx="224670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837259" y="4086671"/>
            <a:ext cx="16496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6870" y="4086671"/>
            <a:ext cx="183177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18646" y="4086671"/>
            <a:ext cx="528280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370" y="3727698"/>
            <a:ext cx="123825" cy="1619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759" y="3727698"/>
            <a:ext cx="123825" cy="1619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759" y="2581126"/>
            <a:ext cx="123825" cy="1619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7370" y="2581126"/>
            <a:ext cx="142875" cy="1619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759" y="2007840"/>
            <a:ext cx="123825" cy="1619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7759" y="3154412"/>
            <a:ext cx="142875" cy="1619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7370" y="3154412"/>
            <a:ext cx="142875" cy="1619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7370" y="2007840"/>
            <a:ext cx="123825" cy="1619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759" y="2007840"/>
            <a:ext cx="123825" cy="1619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7370" y="2007840"/>
            <a:ext cx="123825" cy="1619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7759" y="2581126"/>
            <a:ext cx="123825" cy="1619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7370" y="2581126"/>
            <a:ext cx="142875" cy="1619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7759" y="3154412"/>
            <a:ext cx="142875" cy="1619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7370" y="3154412"/>
            <a:ext cx="142875" cy="1619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7759" y="3727698"/>
            <a:ext cx="123825" cy="1619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370" y="3727698"/>
            <a:ext cx="123825" cy="16192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495550" y="454894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Clasificación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de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Grafos</a:t>
            </a:r>
            <a:endParaRPr sz="27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581025" y="923925"/>
            <a:ext cx="114300" cy="3429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171229"/>
            <a:ext cx="5324475" cy="6429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9675"/>
            <a:ext cx="5324475" cy="2546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209675"/>
            <a:ext cx="559069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Comunicación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1619250"/>
            <a:ext cx="53244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En un grafo completo de </a:t>
            </a:r>
            <a:r>
              <a:rPr sz="1275" b="0" i="1" u="none">
                <a:solidFill>
                  <a:srgbClr val="94A3B8"/>
                </a:solidFill>
                <a:latin typeface="Plus Jakarta Sans"/>
              </a:rPr>
              <a:t>n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vértices, cada nodo está conectado directamente con todos los demás. Representa redes con conectividad máxima e interconexión total.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510432"/>
            <a:ext cx="53244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Para determinar el número total de aristas en un grafo completo , empleamos la siguiente fórmula combinatoria: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825" y="2558057"/>
            <a:ext cx="284410" cy="19526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2319" y="3371254"/>
            <a:ext cx="801885" cy="24288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725" y="1485900"/>
            <a:ext cx="4772025" cy="76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3424" y="2438400"/>
            <a:ext cx="501062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E2E8F0"/>
                </a:solidFill>
                <a:latin typeface="Space Grotesk"/>
              </a:rPr>
              <a:t>Conectividad Máxima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2847975"/>
            <a:ext cx="477202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Por ejemplo, si vértices, cada uno se conecta con los otros 4 nodos, resultando en exactamente </a:t>
            </a:r>
            <a:r>
              <a:rPr sz="1275" b="1" i="0" u="none">
                <a:solidFill>
                  <a:srgbClr val="38BDF8"/>
                </a:solidFill>
                <a:latin typeface="Plus Jakarta Sans"/>
              </a:rPr>
              <a:t>10 aristas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en total.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5382" y="2895600"/>
            <a:ext cx="484435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76875" y="444104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Grafo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Completo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(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K_n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1025" y="923925"/>
            <a:ext cx="114300" cy="3429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09675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209675"/>
            <a:ext cx="559069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Estructura Bipartida (K_m,n)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619250"/>
            <a:ext cx="53244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El conjunto de vértices </a:t>
            </a:r>
            <a:r>
              <a:rPr sz="1275" b="0" i="1" u="none">
                <a:solidFill>
                  <a:srgbClr val="94A3B8"/>
                </a:solidFill>
                <a:latin typeface="Plus Jakarta Sans"/>
              </a:rPr>
              <a:t>V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se divide en dos subconjuntos disjuntos ( y ). No existen conexiones entre vértices del mismo subconjunto.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925835"/>
            <a:ext cx="284410" cy="1952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310" y="1925835"/>
            <a:ext cx="284410" cy="19526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219200"/>
            <a:ext cx="5305425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3925" y="2510432"/>
            <a:ext cx="49815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Asignación de tareas: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Un grupo representa </a:t>
            </a:r>
            <a:r>
              <a:rPr sz="1275" b="0" i="1" u="none">
                <a:solidFill>
                  <a:srgbClr val="CBD5E1"/>
                </a:solidFill>
                <a:latin typeface="Plus Jakarta Sans"/>
              </a:rPr>
              <a:t>Empleados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y otro representa </a:t>
            </a:r>
            <a:r>
              <a:rPr sz="1275" b="0" i="1" u="none">
                <a:solidFill>
                  <a:srgbClr val="CBD5E1"/>
                </a:solidFill>
                <a:latin typeface="Plus Jakarta Sans"/>
              </a:rPr>
              <a:t>Tareas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199804"/>
            <a:ext cx="49815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Sistemas: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Distribución de trabajos entre servidores o asignación eficiente de recursos en redes.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253424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223617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76500" y="457200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Grafos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Bipartidos</a:t>
            </a:r>
            <a:endParaRPr sz="27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81025" y="923925"/>
            <a:ext cx="114300" cy="3429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59135"/>
            <a:ext cx="5372100" cy="34135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659135"/>
            <a:ext cx="5372100" cy="34135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967632"/>
            <a:ext cx="1166812" cy="409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2162" y="2967632"/>
            <a:ext cx="1166812" cy="409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5175" y="2967632"/>
            <a:ext cx="1166812" cy="4095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8187" y="2967632"/>
            <a:ext cx="1166812" cy="4095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453407"/>
            <a:ext cx="1166812" cy="4095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2162" y="3453407"/>
            <a:ext cx="1166812" cy="4095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175" y="3453407"/>
            <a:ext cx="1166812" cy="4095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8187" y="3453407"/>
            <a:ext cx="1166812" cy="4095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3939182"/>
            <a:ext cx="1166812" cy="4095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2162" y="3939182"/>
            <a:ext cx="1166812" cy="4095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175" y="3939182"/>
            <a:ext cx="1166812" cy="4095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8187" y="3939182"/>
            <a:ext cx="1166812" cy="4095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4424957"/>
            <a:ext cx="1166812" cy="4095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2162" y="4424957"/>
            <a:ext cx="1166812" cy="4095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5175" y="4424957"/>
            <a:ext cx="1166812" cy="4095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8187" y="4424957"/>
            <a:ext cx="1166812" cy="4095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1025" y="1209675"/>
            <a:ext cx="775335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En programación, los grafos se almacenan y procesan eficientemente mediante matrices en memoria: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" y="1897260"/>
            <a:ext cx="5140642" cy="29527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Matriz de Adyacencia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" y="2306835"/>
            <a:ext cx="48958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Relaciona vértices con vértices. Se coloca un </a:t>
            </a:r>
            <a:r>
              <a:rPr sz="1275" b="1" i="0" u="none">
                <a:solidFill>
                  <a:srgbClr val="94A3B8"/>
                </a:solidFill>
                <a:latin typeface="Plus Jakarta Sans"/>
              </a:rPr>
              <a:t>1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si existe una conexión directa y un </a:t>
            </a:r>
            <a:r>
              <a:rPr sz="1275" b="1" i="0" u="none">
                <a:solidFill>
                  <a:srgbClr val="94A3B8"/>
                </a:solidFill>
                <a:latin typeface="Plus Jakarta Sans"/>
              </a:rPr>
              <a:t>0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si no existe.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0" y="1897260"/>
            <a:ext cx="5140642" cy="295275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Matriz de Incidencia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0" y="2306835"/>
            <a:ext cx="48958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Relaciona vértices con aristas. Es ideal para algoritmos informáticos que evalúan detalladamente cada conexión existente.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1925835"/>
            <a:ext cx="228600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925835"/>
            <a:ext cx="200025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19900" y="3226593"/>
            <a:ext cx="455295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Bases de datos orientadas a grafos.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9900" y="3657004"/>
            <a:ext cx="455295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Procesamiento rápido en memoria.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250406"/>
            <a:ext cx="171450" cy="2000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3680817"/>
            <a:ext cx="190500" cy="2000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543651" y="476250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Representación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Matricial</a:t>
            </a:r>
            <a:endParaRPr sz="27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81025" y="923925"/>
            <a:ext cx="114300" cy="3429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9675"/>
            <a:ext cx="3524250" cy="24342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209675"/>
            <a:ext cx="3524250" cy="24342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1209675"/>
            <a:ext cx="3524250" cy="2434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2066925"/>
            <a:ext cx="312039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Camino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47650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Secuencia de vértices unidos por aristas sin repetir vértices ni aristas durante el trayecto.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2066925"/>
            <a:ext cx="312039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Circuito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247650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Un recorrido que comienza y termina exactamente en el mismo vértice origen.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2950" y="2066925"/>
            <a:ext cx="312039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Grafo Conexo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2950" y="247650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Es posible viajar entre cualquier par de nodos a través de algún camino. Si hay nodos aislados, es </a:t>
            </a:r>
            <a:r>
              <a:rPr sz="1275" b="0" i="1" u="none">
                <a:solidFill>
                  <a:srgbClr val="94A3B8"/>
                </a:solidFill>
                <a:latin typeface="Plus Jakarta Sans"/>
              </a:rPr>
              <a:t>disconexo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543050"/>
            <a:ext cx="4286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1543050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950" y="1543050"/>
            <a:ext cx="3905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17445" y="457200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Caminos y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Conectividad</a:t>
            </a:r>
            <a:endParaRPr sz="27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1025" y="923925"/>
            <a:ext cx="114300" cy="3429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9675"/>
            <a:ext cx="5324475" cy="24306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209675"/>
            <a:ext cx="5324475" cy="24306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1504950"/>
            <a:ext cx="3048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1990725"/>
            <a:ext cx="497062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818CF8"/>
                </a:solidFill>
                <a:latin typeface="Space Grotesk"/>
              </a:rPr>
              <a:t>Circuito Euleriano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400300"/>
            <a:ext cx="473392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Recorre todas las ARISTAS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exactamente una vez.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773560"/>
            <a:ext cx="4733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Teorema: Un grafo conexo posee un ciclo euleriano si y solo si todos sus vértices tienen </a:t>
            </a:r>
            <a:r>
              <a:rPr sz="1125" b="1" i="0" u="none">
                <a:solidFill>
                  <a:srgbClr val="94A3B8"/>
                </a:solidFill>
                <a:latin typeface="Plus Jakarta Sans"/>
              </a:rPr>
              <a:t>valencia (grado) par</a:t>
            </a:r>
            <a:r>
              <a:rPr sz="1125" b="0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1504950"/>
            <a:ext cx="257175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1775" y="1990725"/>
            <a:ext cx="4970621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818CF8"/>
                </a:solidFill>
                <a:latin typeface="Space Grotesk"/>
              </a:rPr>
              <a:t>Circuito Hamiltoniano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400300"/>
            <a:ext cx="473392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Plus Jakarta Sans"/>
              </a:rPr>
              <a:t>Visita todos los VÉRTICES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exactamente una vez.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2773560"/>
            <a:ext cx="4733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Base del famoso </a:t>
            </a:r>
            <a:r>
              <a:rPr sz="1125" b="0" i="1" u="none">
                <a:solidFill>
                  <a:srgbClr val="94A3B8"/>
                </a:solidFill>
                <a:latin typeface="Plus Jakarta Sans"/>
              </a:rPr>
              <a:t>Problema del Viajante (TSP)</a:t>
            </a:r>
            <a:r>
              <a:rPr sz="1125" b="0" i="0" u="none">
                <a:solidFill>
                  <a:srgbClr val="94A3B8"/>
                </a:solidFill>
                <a:latin typeface="Plus Jakarta Sans"/>
              </a:rPr>
              <a:t>, clave para la optimización logística, distribución y transporte comercial.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7425" y="457200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Caminos de Euler vs. Hamilton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" y="923925"/>
            <a:ext cx="114300" cy="3429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09675"/>
            <a:ext cx="5324475" cy="25675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209675"/>
            <a:ext cx="559069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Misma Estructura, Distinta Apariencia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619250"/>
            <a:ext cx="53244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Dos grafos son </a:t>
            </a:r>
            <a:r>
              <a:rPr sz="1275" b="1" i="0" u="none">
                <a:solidFill>
                  <a:srgbClr val="94A3B8"/>
                </a:solidFill>
                <a:latin typeface="Plus Jakarta Sans"/>
              </a:rPr>
              <a:t>isomorfos</a:t>
            </a:r>
            <a:r>
              <a:rPr sz="1275" b="0" i="0" u="none">
                <a:solidFill>
                  <a:srgbClr val="94A3B8"/>
                </a:solidFill>
                <a:latin typeface="Plus Jakarta Sans"/>
              </a:rPr>
              <a:t> si representan exactamente la misma información estructurada, aunque sus gráficos visuales se dibujen de forma diferente.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1485900"/>
            <a:ext cx="4772025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62725" y="2200275"/>
            <a:ext cx="501062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Simplificación de Problemas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609850"/>
            <a:ext cx="477202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Permite a las computadoras reconocer cuando dos redes aparentemente distintas funcionan exactamente bajo los mismos principios estructurales.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510432"/>
            <a:ext cx="498157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Igual número de vértices ( 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940843"/>
            <a:ext cx="498157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Igual número de aristas ( 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371254"/>
            <a:ext cx="4981575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Misma distribución de grados por vértice.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0" y="2548532"/>
            <a:ext cx="51048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0350" y="2978943"/>
            <a:ext cx="48503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2534245"/>
            <a:ext cx="1714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2964656"/>
            <a:ext cx="17145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395067"/>
            <a:ext cx="171450" cy="2000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90725" y="422076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Isomorfismo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de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Grafos</a:t>
            </a:r>
            <a:endParaRPr sz="27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81025" y="923925"/>
            <a:ext cx="114300" cy="3429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09675"/>
            <a:ext cx="3524250" cy="24342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209675"/>
            <a:ext cx="3524250" cy="24342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1209675"/>
            <a:ext cx="3524250" cy="2434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2066925"/>
            <a:ext cx="312039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Sistemas de Navegación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47650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Google Maps calcula rutas óptimas usando algoritmos sobre grafos de calles y avenidas.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2066925"/>
            <a:ext cx="312039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Redes Sociales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247650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Recomendación de amigos y contenidos en plataformas como Facebook o LinkedIn.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2950" y="2066925"/>
            <a:ext cx="312039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Space Grotesk"/>
              </a:rPr>
              <a:t>Inteligencia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2950" y="2476500"/>
            <a:ext cx="29718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Plus Jakarta Sans"/>
              </a:rPr>
              <a:t>Redes neuronales, robótica, bases de datos orientadas a grafos (Neo4j) y motores de búsqueda.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543050"/>
            <a:ext cx="3905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1543050"/>
            <a:ext cx="3048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950" y="1543050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05075" y="48577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Aplicaciones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en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2700" b="1" i="0" u="none" dirty="0" err="1">
                <a:solidFill>
                  <a:srgbClr val="F8FAFC"/>
                </a:solidFill>
                <a:latin typeface="Space Grotesk"/>
              </a:rPr>
              <a:t>el</a:t>
            </a:r>
            <a:r>
              <a:rPr sz="2700" b="1" i="0" u="none" dirty="0">
                <a:solidFill>
                  <a:srgbClr val="F8FAFC"/>
                </a:solidFill>
                <a:latin typeface="Space Grotesk"/>
              </a:rPr>
              <a:t> Mundo Real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025" y="923925"/>
            <a:ext cx="114300" cy="3429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712" y="4092773"/>
            <a:ext cx="4600575" cy="504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80723" y="2260252"/>
            <a:ext cx="4430553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5400" b="1" dirty="0">
                <a:solidFill>
                  <a:srgbClr val="F8FAFC"/>
                </a:solidFill>
                <a:latin typeface="Space Grotesk"/>
              </a:rPr>
              <a:t>CONCLUSION.</a:t>
            </a:r>
            <a:endParaRPr sz="5400" b="1" i="0" u="none" dirty="0">
              <a:solidFill>
                <a:srgbClr val="F8FAFC"/>
              </a:solidFill>
              <a:latin typeface="Space Grotes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33875" y="3327052"/>
            <a:ext cx="35242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Plus Jakarta Sans"/>
              </a:rPr>
              <a:t>¡Muchas 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876</Words>
  <Application>Microsoft Office PowerPoint</Application>
  <PresentationFormat>Panorámica</PresentationFormat>
  <Paragraphs>100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Plus Jakarta Sans</vt:lpstr>
      <vt:lpstr>Plus Jakarta Sans SemiBold</vt:lpstr>
      <vt:lpstr>Space Grotesk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Jahel Novas</cp:lastModifiedBy>
  <cp:revision>2</cp:revision>
  <dcterms:created xsi:type="dcterms:W3CDTF">2013-01-27T09:14:16Z</dcterms:created>
  <dcterms:modified xsi:type="dcterms:W3CDTF">2026-08-04T15:22:49Z</dcterms:modified>
  <cp:category/>
</cp:coreProperties>
</file>