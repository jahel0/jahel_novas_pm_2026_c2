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15" y="2146994"/>
            <a:ext cx="4474368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6461" y="2718494"/>
            <a:ext cx="5119077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0F172A"/>
                </a:solidFill>
                <a:latin typeface="Space Grotesk"/>
              </a:rPr>
              <a:t>Introducción a los</a:t>
            </a:r>
            <a:r>
              <a:t>
</a:t>
            </a:r>
            <a:r>
              <a:rPr sz="4200" b="1" i="0" u="none">
                <a:solidFill>
                  <a:srgbClr val="0F172A"/>
                </a:solidFill>
                <a:latin typeface="Space Grotesk"/>
              </a:rPr>
              <a:t> Lenguajes Formales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4082355"/>
            <a:ext cx="8096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Fundamentos del modelado computacional, sintaxis gramatical, clasificación de Chomsky y modelos de autómata para la ciencia de la computación.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9350"/>
            <a:ext cx="533400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19350"/>
            <a:ext cx="5334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9985" y="2762250"/>
            <a:ext cx="446524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Space Grotesk"/>
              </a:rPr>
              <a:t>Lenguaje Natural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71825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Definición: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Idioma hablado o escrito por seres humanos (Español, Inglés).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52850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Características: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Possuye ambigüedad inherente, reglas flexibles y evolución continua con el contexto social.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33875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Limitación: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Imposible de traducir directamente y de forma determinista a lógica digital binaria.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4985" y="2762250"/>
            <a:ext cx="4465245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Space Grotesk"/>
              </a:rPr>
              <a:t>Lenguaje Formal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71825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Definición: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Sistema abstracto de símbolos estructurado mediante reglas estrictas (C++, SQL, BNF).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52850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Características: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Cero ambigüedad, sintaxis rígidamente definida y comprobación matemática inalterable.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333875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Aplicación: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Esencial para construir compiladores, algoritmos y protocolos de comunicación.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95587"/>
            <a:ext cx="28128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795587"/>
            <a:ext cx="28128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Lenguaje Natural vs Formal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641103"/>
            <a:ext cx="9096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Alfabeto y Vocabulario (Σ):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Conjunto finito no vacío de todos los símbolos básicos permitidos en el sistema formal.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093541"/>
            <a:ext cx="9096375" cy="489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No Terminales (N) y Terminales (T):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N representa símbolos sintácticos sustituibles, mientras T contiene los elementos finales irreducibles.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3793033"/>
            <a:ext cx="9096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Símbolo Inicial (S ∈ N):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Axioma o punto de partida desde el cual se inicia la derivación sintáctica del enunciado.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2125" y="4245471"/>
            <a:ext cx="9096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Reglas de Producción (P):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Transformaciones formales de la estructura que dictan cómo sustituir variables por terminales.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0" y="4302621"/>
            <a:ext cx="462260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655391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107828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807321"/>
            <a:ext cx="1619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25975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Estructura de la Gramática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34332"/>
            <a:ext cx="4953000" cy="1381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571500"/>
            <a:ext cx="50506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Derivación Gramatical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122586"/>
            <a:ext cx="52006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Ejemplo de Producción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32161"/>
            <a:ext cx="4953000" cy="549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Gramática definida por las reglas: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1) S → aSb      2) S → 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58332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Este proceso genera el lenguaje formal con estructura de pares equilibrados: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377207"/>
            <a:ext cx="10287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12E81"/>
                </a:solidFill>
                <a:latin typeface="Plus Jakarta Sans"/>
              </a:rPr>
              <a:t>Paso a paso: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3653432"/>
            <a:ext cx="104923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075" y="3872507"/>
            <a:ext cx="282773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4091582"/>
            <a:ext cx="460623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075" y="4310657"/>
            <a:ext cx="533548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3125" y="5079503"/>
            <a:ext cx="387994" cy="153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1200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1200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981200"/>
            <a:ext cx="4905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Tipo 0 (Sin Restricciones):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Gramáticas generales reconozibles por Máquinas de Turing.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676525"/>
            <a:ext cx="4905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Tipo 1 (Sensibles al Contexto):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Reglas donde el reemplazo depende de los símbolos vecinos.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371850"/>
            <a:ext cx="4905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Tipo 2 (Libres de Contexto):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Fundamentales para definir la estructura sintáctica de los lenguajes de programación.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067175"/>
            <a:ext cx="4905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Tipo 3 (Regulares):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Gramáticas con sintaxis estricta procesadas por Autómatas Finitos.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Jerarquía de Chomsky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62312"/>
            <a:ext cx="5334000" cy="1014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81200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81200"/>
            <a:ext cx="56007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Análisis Sintáctico Estructurado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90775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Un árbol de derivación es una representación gráfica jerárquica del proceso de construcción sintáctica en una Gramática Libre de Contexto (Tipo 2).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81200"/>
            <a:ext cx="345757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4375" y="3402806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405187"/>
            <a:ext cx="4914900" cy="24288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Raíz: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Contiene el axioma o símbolo inicial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3645693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648075"/>
            <a:ext cx="4914900" cy="24288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Nodos Intermedios: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Símbolos No Terminales ( 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888581"/>
            <a:ext cx="857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890962"/>
            <a:ext cx="4914900" cy="24288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Hojas: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Símbolos Terminales ( ) leídos de izquierda a derecha.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300" y="3462337"/>
            <a:ext cx="99119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3705225"/>
            <a:ext cx="128587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0850" y="3948112"/>
            <a:ext cx="108793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Árboles de Derivación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7678"/>
            <a:ext cx="11049000" cy="2826543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87203"/>
          <a:ext cx="11029949" cy="2807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0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49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Elemento Sintáctico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Forma Backus-Naur (BNF)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Diagrama Sintáctico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49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Símbolo No Terminal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Entre corchetes angulares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Caja rectangular rígida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49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Símbolo Terminal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Escrito directo o comillas "if"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Círculo o elipse ovalada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49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Regla / Asignación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Metasímbolo ::=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Línea con flechas de flujo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501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Alternativa (Ó)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Barra vertical |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Bifurcación de caminos paralelos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944415"/>
            <a:ext cx="2950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31244" y="2944415"/>
            <a:ext cx="39519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83226" y="2944415"/>
            <a:ext cx="4127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05795"/>
            <a:ext cx="2950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31244" y="3505795"/>
            <a:ext cx="39519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83226" y="3505795"/>
            <a:ext cx="4127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067175"/>
            <a:ext cx="2950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31244" y="4067175"/>
            <a:ext cx="39519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83226" y="4067175"/>
            <a:ext cx="4127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628554"/>
            <a:ext cx="29502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31244" y="4628554"/>
            <a:ext cx="39519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83226" y="4628554"/>
            <a:ext cx="412774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BNF vs Diagramas Sintácticos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4131"/>
            <a:ext cx="3524250" cy="24336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74131"/>
            <a:ext cx="3524250" cy="2433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74131"/>
            <a:ext cx="3524250" cy="24336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869406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74256"/>
            <a:ext cx="183741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Cadena Vacía (ε)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83831"/>
            <a:ext cx="2933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Secuencia especial con 0 símbolos y longitud zero. Funciona como neutro en concatenación: 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2869406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574256"/>
            <a:ext cx="207400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Inversa y Potencia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983831"/>
            <a:ext cx="2933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Inversión de símbolos y concatenación repetida sobre el alfabeto original.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2869406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574256"/>
            <a:ext cx="125218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Cerraduras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983831"/>
            <a:ext cx="29337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Cerradura de Kleene ( ) incluye la cadena vacía. Cerradura Positiva ( ) la excluye.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012281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3625" y="4564856"/>
            <a:ext cx="532804" cy="857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2025" y="3012281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5550" y="4006899"/>
            <a:ext cx="241548" cy="157906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4268837"/>
            <a:ext cx="220414" cy="13885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67737" y="3012281"/>
            <a:ext cx="16192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58400" y="4005560"/>
            <a:ext cx="195560" cy="15924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10900" y="4248447"/>
            <a:ext cx="203596" cy="15924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Cadenas y Operaciones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36416"/>
            <a:ext cx="4953000" cy="547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4375" y="571500"/>
            <a:ext cx="50506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Autómatas Finitos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125860"/>
            <a:ext cx="52006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Definición 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35435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Modelo matemático que reconoce lenguajes regulares mediante la quíntupla formal: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927276"/>
            <a:ext cx="4953000" cy="1376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Componentes principales: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Σ: Alfabeto de entrada.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Q: Conjunto finito de estados.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q₀ / F: Estado inicial y estados de aceptación.</a:t>
            </a:r>
            <a:r>
              <a:t>
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• δ: Función de transición de estados.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426916"/>
            <a:ext cx="2040284" cy="214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7778"/>
            <a:ext cx="5334000" cy="21663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07778"/>
            <a:ext cx="5334000" cy="2166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4260" y="3050678"/>
            <a:ext cx="4555256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Space Grotesk"/>
              </a:rPr>
              <a:t>AFD (Determinista)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60253"/>
            <a:ext cx="4648200" cy="489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Para cada par de (Estado, Símbolo) existe exactamente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una única transición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definida.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45446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Ventaja: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Algoritmo de ejecución rápida sin necesidad de backtracking ni bifurcaciones de memoria.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9260" y="3050678"/>
            <a:ext cx="4555256" cy="2952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Space Grotesk"/>
              </a:rPr>
              <a:t>AFN (No Determinista)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460253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Permite </a:t>
            </a:r>
            <a:r>
              <a:rPr sz="1275" b="1" i="0" u="none">
                <a:solidFill>
                  <a:srgbClr val="475569"/>
                </a:solidFill>
                <a:latin typeface="Plus Jakarta Sans"/>
              </a:rPr>
              <a:t>múltiples transiciones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posibles para un símbolo o transiciones vacías espontáneas ( 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041278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Plus Jakarta Sans"/>
              </a:rPr>
              <a:t>Equivalencia:</a:t>
            </a:r>
            <a:r>
              <a:rPr sz="1275" b="0" i="0" u="none">
                <a:solidFill>
                  <a:srgbClr val="475569"/>
                </a:solidFill>
                <a:latin typeface="Plus Jakarta Sans"/>
              </a:rPr>
              <a:t> Todo AFN puede transformarse unívocamente a un AFD equivalente.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84016"/>
            <a:ext cx="19556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3084016"/>
            <a:ext cx="19556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775" y="3798391"/>
            <a:ext cx="74860" cy="857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Modelos AFD vs AFN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990850"/>
            <a:ext cx="53340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0" i="0" u="none">
                <a:solidFill>
                  <a:srgbClr val="4F46E5"/>
                </a:solidFill>
                <a:latin typeface="Space Grotesk ExtraBold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324350"/>
            <a:ext cx="5334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E293B"/>
                </a:solidFill>
                <a:latin typeface="Plus Jakarta Sans"/>
              </a:rPr>
              <a:t>Base del Software Moderno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990850"/>
            <a:ext cx="56007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Fundamento Riguroso de la Ciencia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400425"/>
            <a:ext cx="53340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Plus Jakarta Sans"/>
              </a:rPr>
              <a:t>Los lenguajes formales y los autómatas son la piedra angular que permite la existencia de los compiladores, intérpretes de código, motores de búsqueda sintáctica y la verificación formal de software crítico en la informática actual.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476250"/>
            <a:ext cx="1145143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E293B"/>
                </a:solidFill>
                <a:latin typeface="Space Grotesk"/>
              </a:rPr>
              <a:t>Impacto en la Computación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76250"/>
            <a:ext cx="47625" cy="43815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6275" y="476250"/>
            <a:ext cx="116014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5400" b="1" i="0" u="none" dirty="0" err="1">
                <a:solidFill>
                  <a:srgbClr val="0F172A"/>
                </a:solidFill>
                <a:latin typeface="Space Grotesk"/>
              </a:rPr>
              <a:t>Co</a:t>
            </a:r>
            <a:r>
              <a:rPr lang="es-ES" sz="5400" b="1" dirty="0" err="1">
                <a:solidFill>
                  <a:srgbClr val="0F172A"/>
                </a:solidFill>
                <a:latin typeface="Space Grotesk"/>
              </a:rPr>
              <a:t>nclucion</a:t>
            </a:r>
            <a:endParaRPr sz="54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0" y="154305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Plus Jakarta Sans"/>
              </a:rPr>
              <a:t>Muchas gracias por su atención durante esta presentación.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66950"/>
            <a:ext cx="110490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366F1"/>
                </a:solidFill>
                <a:latin typeface="Plus Jakarta Sans SemiBold"/>
              </a:rPr>
              <a:t>Capítulo IX · Introducción a los Lenguajes Formales · Matemáticas para la Computación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704</Words>
  <Application>Microsoft Office PowerPoint</Application>
  <PresentationFormat>Panorámica</PresentationFormat>
  <Paragraphs>77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Plus Jakarta Sans</vt:lpstr>
      <vt:lpstr>Plus Jakarta Sans SemiBold</vt:lpstr>
      <vt:lpstr>Space Grotesk</vt:lpstr>
      <vt:lpstr>Space Grotesk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Jahel Novas</cp:lastModifiedBy>
  <cp:revision>2</cp:revision>
  <dcterms:created xsi:type="dcterms:W3CDTF">2013-01-27T09:14:16Z</dcterms:created>
  <dcterms:modified xsi:type="dcterms:W3CDTF">2026-08-07T05:24:50Z</dcterms:modified>
  <cp:category/>
</cp:coreProperties>
</file>